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3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6E9F9-77A6-9DBB-29DB-832AC82B8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EDDE0-7AF6-C249-2686-3481C6849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16E30-6DBA-FFBB-663E-61CBC6E48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71BBD-B1FF-6548-AD76-414DCDC28F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3928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73ADB1C-5344-4C63-8F05-005F10C705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EB6810-E0C8-43DB-B94F-1972BE02317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4953000" cy="6858000"/>
          </a:xfrm>
          <a:prstGeom prst="rect">
            <a:avLst/>
          </a:prstGeom>
          <a:solidFill>
            <a:srgbClr val="1824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E4F0E6-9573-45DC-B33F-D488DA265E85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UNITY 6 + GITHUB GUIDE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5C1D21-9B45-41C1-8951-B2FC482B5E92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619125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Install Unity, open the project, and publish it on GitHub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99E14B-377B-406D-96B4-E758AD299ED8}"/>
              </a:ext>
            </a:extLst>
          </p:cNvPr>
          <p:cNvSpPr>
            <a:spLocks noGrp="1"/>
          </p:cNvSpPr>
          <p:nvPr/>
        </p:nvSpPr>
        <p:spPr>
          <a:xfrm>
            <a:off x="647700" y="2781300"/>
            <a:ext cx="5619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A step-by-step </a:t>
            </a:r>
            <a:r>
              <a:rPr lang="en-ZA" sz="1350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guide to Unity for the first time</a:t>
            </a:r>
            <a:r>
              <a:rPr sz="1350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9D00D8-A1B6-4BCB-AF37-5C4B6DE4647E}"/>
              </a:ext>
            </a:extLst>
          </p:cNvPr>
          <p:cNvSpPr>
            <a:spLocks noGrp="1"/>
          </p:cNvSpPr>
          <p:nvPr/>
        </p:nvSpPr>
        <p:spPr>
          <a:xfrm>
            <a:off x="647700" y="3638550"/>
            <a:ext cx="1581150" cy="323850"/>
          </a:xfrm>
          <a:prstGeom prst="rect">
            <a:avLst/>
          </a:prstGeom>
          <a:solidFill>
            <a:srgbClr val="FFFFFF"/>
          </a:solidFill>
          <a:ln w="13335">
            <a:solidFill>
              <a:srgbClr val="2F7D5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77F409-B7A6-4469-9C5E-0750FB6AA262}"/>
              </a:ext>
            </a:extLst>
          </p:cNvPr>
          <p:cNvSpPr>
            <a:spLocks noGrp="1"/>
          </p:cNvSpPr>
          <p:nvPr/>
        </p:nvSpPr>
        <p:spPr>
          <a:xfrm>
            <a:off x="647700" y="3714750"/>
            <a:ext cx="1581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Unity 6000.3.9f1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5FC7A9-453E-4613-B5E5-4B4C3CD4ED0E}"/>
              </a:ext>
            </a:extLst>
          </p:cNvPr>
          <p:cNvSpPr>
            <a:spLocks noGrp="1"/>
          </p:cNvSpPr>
          <p:nvPr/>
        </p:nvSpPr>
        <p:spPr>
          <a:xfrm>
            <a:off x="2400300" y="3638550"/>
            <a:ext cx="1695450" cy="323850"/>
          </a:xfrm>
          <a:prstGeom prst="rect">
            <a:avLst/>
          </a:prstGeom>
          <a:solidFill>
            <a:srgbClr val="FFFFFF"/>
          </a:solidFill>
          <a:ln w="13335">
            <a:solidFill>
              <a:srgbClr val="2F6F9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619017-A3E0-477E-8F2D-767F984967D6}"/>
              </a:ext>
            </a:extLst>
          </p:cNvPr>
          <p:cNvSpPr>
            <a:spLocks noGrp="1"/>
          </p:cNvSpPr>
          <p:nvPr/>
        </p:nvSpPr>
        <p:spPr>
          <a:xfrm>
            <a:off x="2400300" y="3714750"/>
            <a:ext cx="1695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GitHub Public Repo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1D97F4-45EF-42A2-9A0E-966C0AD9D0EA}"/>
              </a:ext>
            </a:extLst>
          </p:cNvPr>
          <p:cNvSpPr>
            <a:spLocks noGrp="1"/>
          </p:cNvSpPr>
          <p:nvPr/>
        </p:nvSpPr>
        <p:spPr>
          <a:xfrm>
            <a:off x="4267200" y="3638550"/>
            <a:ext cx="1428750" cy="323850"/>
          </a:xfrm>
          <a:prstGeom prst="rect">
            <a:avLst/>
          </a:prstGeom>
          <a:solidFill>
            <a:srgbClr val="FFFFFF"/>
          </a:solidFill>
          <a:ln w="13335">
            <a:solidFill>
              <a:srgbClr val="C9822D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93536F-671C-40C9-A7A2-9AF400A12BAE}"/>
              </a:ext>
            </a:extLst>
          </p:cNvPr>
          <p:cNvSpPr>
            <a:spLocks noGrp="1"/>
          </p:cNvSpPr>
          <p:nvPr/>
        </p:nvSpPr>
        <p:spPr>
          <a:xfrm>
            <a:off x="4267200" y="371475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Primitive Scene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BB1F7A4-C229-4C3C-89B8-2C67688C8BEA}"/>
              </a:ext>
            </a:extLst>
          </p:cNvPr>
          <p:cNvSpPr>
            <a:spLocks noGrp="1"/>
          </p:cNvSpPr>
          <p:nvPr/>
        </p:nvSpPr>
        <p:spPr>
          <a:xfrm>
            <a:off x="8058150" y="1143000"/>
            <a:ext cx="2609850" cy="2609850"/>
          </a:xfrm>
          <a:prstGeom prst="ellipse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90A3F4F-CF93-44B7-8C30-F87B2538DC62}"/>
              </a:ext>
            </a:extLst>
          </p:cNvPr>
          <p:cNvSpPr>
            <a:spLocks noGrp="1"/>
          </p:cNvSpPr>
          <p:nvPr/>
        </p:nvSpPr>
        <p:spPr>
          <a:xfrm>
            <a:off x="8172450" y="1257300"/>
            <a:ext cx="2381250" cy="2381250"/>
          </a:xfrm>
          <a:prstGeom prst="ellipse">
            <a:avLst/>
          </a:prstGeom>
          <a:solidFill>
            <a:srgbClr val="4B95C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A3B4CB-BD36-4B5D-8739-5685BCACE999}"/>
              </a:ext>
            </a:extLst>
          </p:cNvPr>
          <p:cNvSpPr>
            <a:spLocks noGrp="1"/>
          </p:cNvSpPr>
          <p:nvPr/>
        </p:nvSpPr>
        <p:spPr>
          <a:xfrm>
            <a:off x="8572500" y="4514850"/>
            <a:ext cx="2667000" cy="495300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FB37FD-9DE1-465B-B4EE-129BE1F9ED43}"/>
              </a:ext>
            </a:extLst>
          </p:cNvPr>
          <p:cNvSpPr>
            <a:spLocks noGrp="1"/>
          </p:cNvSpPr>
          <p:nvPr/>
        </p:nvSpPr>
        <p:spPr>
          <a:xfrm>
            <a:off x="8191500" y="5086350"/>
            <a:ext cx="3429000" cy="247650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4C15B6-8213-4E21-B44A-9FBC96FBA745}"/>
              </a:ext>
            </a:extLst>
          </p:cNvPr>
          <p:cNvSpPr>
            <a:spLocks noGrp="1"/>
          </p:cNvSpPr>
          <p:nvPr/>
        </p:nvSpPr>
        <p:spPr>
          <a:xfrm>
            <a:off x="7962900" y="5638800"/>
            <a:ext cx="3429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DCE7E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DCE7EF"/>
                </a:solidFill>
                <a:latin typeface="Consolas"/>
                <a:ea typeface="Consolas"/>
                <a:cs typeface="Consolas"/>
              </a:rPr>
              <a:t>Repo target</a:t>
            </a:r>
          </a:p>
          <a:p>
            <a:pPr algn="l">
              <a:defRPr sz="975" b="0">
                <a:solidFill>
                  <a:srgbClr val="DCE7E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DCE7EF"/>
                </a:solidFill>
                <a:latin typeface="Consolas"/>
                <a:ea typeface="Consolas"/>
                <a:cs typeface="Consolas"/>
              </a:rPr>
              <a:t>Vargr013/Unity-Showcase-project-Tutoring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6B8075-721B-40F4-9B2D-C407F6E58ADA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0228BF6-04CD-4331-9740-51B085B7E1C3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72A64F-F78D-4F43-A0C2-A3D7B79CDC95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72600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65E6188-AC09-47F8-9C76-1167FDCB35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725B70-9FEC-4508-B76D-28D3C7AFFFB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BEFORE YOU START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49A7C1-A8E8-4870-BB47-C212D7B1DD37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Install prerequisites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36477E-C4AD-4318-99D0-2035F0BA93E9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The project is intentionally small, but the setup works best when these items are ready first.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49146D-3F14-4E55-8C77-42E21335BDAF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85725" cy="85725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F76AD3-F0A0-4A42-958A-1A74B27A0516}"/>
              </a:ext>
            </a:extLst>
          </p:cNvPr>
          <p:cNvSpPr>
            <a:spLocks noGrp="1"/>
          </p:cNvSpPr>
          <p:nvPr/>
        </p:nvSpPr>
        <p:spPr>
          <a:xfrm>
            <a:off x="1114425" y="2476500"/>
            <a:ext cx="8620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Unity Hub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100666-DBB8-4029-87ED-DA15E37D224E}"/>
              </a:ext>
            </a:extLst>
          </p:cNvPr>
          <p:cNvSpPr>
            <a:spLocks noGrp="1"/>
          </p:cNvSpPr>
          <p:nvPr/>
        </p:nvSpPr>
        <p:spPr>
          <a:xfrm>
            <a:off x="1114425" y="2733675"/>
            <a:ext cx="86201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Used to install Unity editors, manage licenses, and open projects.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1DB02F-5B76-4649-94BF-27A0A60B7B8D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85725" cy="85725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151FAB-081F-4057-A798-82BD9FF17859}"/>
              </a:ext>
            </a:extLst>
          </p:cNvPr>
          <p:cNvSpPr>
            <a:spLocks noGrp="1"/>
          </p:cNvSpPr>
          <p:nvPr/>
        </p:nvSpPr>
        <p:spPr>
          <a:xfrm>
            <a:off x="1114425" y="3200400"/>
            <a:ext cx="8620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Unity Editor 6000.3.9f1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338979-5C0E-42E9-B698-87FD6F233E18}"/>
              </a:ext>
            </a:extLst>
          </p:cNvPr>
          <p:cNvSpPr>
            <a:spLocks noGrp="1"/>
          </p:cNvSpPr>
          <p:nvPr/>
        </p:nvSpPr>
        <p:spPr>
          <a:xfrm>
            <a:off x="1114425" y="3457575"/>
            <a:ext cx="86201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The project metadata is set to Unity 6 version 6000.3.9f1.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19E6BE-4072-4E39-A3AD-D075D68FE3EE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85725" cy="85725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C3C5E3-27F1-4180-858C-812DF3EB39D9}"/>
              </a:ext>
            </a:extLst>
          </p:cNvPr>
          <p:cNvSpPr>
            <a:spLocks noGrp="1"/>
          </p:cNvSpPr>
          <p:nvPr/>
        </p:nvSpPr>
        <p:spPr>
          <a:xfrm>
            <a:off x="1114425" y="3924300"/>
            <a:ext cx="8620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4A0953-E187-4F10-A12F-AE193D26AAB9}"/>
              </a:ext>
            </a:extLst>
          </p:cNvPr>
          <p:cNvSpPr>
            <a:spLocks noGrp="1"/>
          </p:cNvSpPr>
          <p:nvPr/>
        </p:nvSpPr>
        <p:spPr>
          <a:xfrm>
            <a:off x="1114425" y="4181475"/>
            <a:ext cx="86201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Used to clone the repository and track project changes.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BE5A5F-32AC-4AE8-8B68-0A1DE8C906C3}"/>
              </a:ext>
            </a:extLst>
          </p:cNvPr>
          <p:cNvSpPr>
            <a:spLocks noGrp="1"/>
          </p:cNvSpPr>
          <p:nvPr/>
        </p:nvSpPr>
        <p:spPr>
          <a:xfrm>
            <a:off x="876300" y="4724400"/>
            <a:ext cx="85725" cy="85725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837F68-8840-4DA9-8E38-71076B75DAA5}"/>
              </a:ext>
            </a:extLst>
          </p:cNvPr>
          <p:cNvSpPr>
            <a:spLocks noGrp="1"/>
          </p:cNvSpPr>
          <p:nvPr/>
        </p:nvSpPr>
        <p:spPr>
          <a:xfrm>
            <a:off x="1114425" y="4648200"/>
            <a:ext cx="86201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GitHub account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6B89DD-4060-4FE1-8EC2-4E8C1365E44F}"/>
              </a:ext>
            </a:extLst>
          </p:cNvPr>
          <p:cNvSpPr>
            <a:spLocks noGrp="1"/>
          </p:cNvSpPr>
          <p:nvPr/>
        </p:nvSpPr>
        <p:spPr>
          <a:xfrm>
            <a:off x="1114425" y="4905375"/>
            <a:ext cx="86201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Needed to publish the public repository and share it with students.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5688-FBF5-418C-9C4C-BE580F34D1BD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83FEF2-DFD5-4FAB-B721-6AFF62FE84D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8478B0F-ED34-4EE2-B86E-51FE9A8E6420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82682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FA02FCE0-6095-48C9-9D36-779D0BEF2D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7ADA2C-F3DE-40BF-BCBC-4F8C6005A47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7E2939-1A05-4EEC-87F7-B11A15B9BB2C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Install Unity Hub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A681FB-5425-4DFD-BF15-DD58E1187C5D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Hub is the launcher used to install Unity 6 and open the showcase project.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356E0F-4538-4CB5-829C-FD797E24E54B}"/>
              </a:ext>
            </a:extLst>
          </p:cNvPr>
          <p:cNvSpPr>
            <a:spLocks noGrp="1"/>
          </p:cNvSpPr>
          <p:nvPr/>
        </p:nvSpPr>
        <p:spPr>
          <a:xfrm>
            <a:off x="800100" y="2419350"/>
            <a:ext cx="49530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0A0365-8FB9-4933-9769-774D73B67931}"/>
              </a:ext>
            </a:extLst>
          </p:cNvPr>
          <p:cNvSpPr>
            <a:spLocks noGrp="1"/>
          </p:cNvSpPr>
          <p:nvPr/>
        </p:nvSpPr>
        <p:spPr>
          <a:xfrm>
            <a:off x="800100" y="2419350"/>
            <a:ext cx="95250" cy="1123950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EED35F-0127-472F-8F4A-29B5FFCAE6ED}"/>
              </a:ext>
            </a:extLst>
          </p:cNvPr>
          <p:cNvSpPr>
            <a:spLocks noGrp="1"/>
          </p:cNvSpPr>
          <p:nvPr/>
        </p:nvSpPr>
        <p:spPr>
          <a:xfrm>
            <a:off x="1028700" y="26098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A30EB4-4872-4347-AEA2-043DE5F4B82E}"/>
              </a:ext>
            </a:extLst>
          </p:cNvPr>
          <p:cNvSpPr>
            <a:spLocks noGrp="1"/>
          </p:cNvSpPr>
          <p:nvPr/>
        </p:nvSpPr>
        <p:spPr>
          <a:xfrm>
            <a:off x="1619250" y="2600325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Download Hub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D1F6C1-5AF9-4664-BC73-10976CF316E0}"/>
              </a:ext>
            </a:extLst>
          </p:cNvPr>
          <p:cNvSpPr>
            <a:spLocks noGrp="1"/>
          </p:cNvSpPr>
          <p:nvPr/>
        </p:nvSpPr>
        <p:spPr>
          <a:xfrm>
            <a:off x="1619250" y="2914650"/>
            <a:ext cx="3905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Go to unity.com/download and download Unity Hub for Windows.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E54BD7-E81C-429F-9F31-5A0CBD6B7AC6}"/>
              </a:ext>
            </a:extLst>
          </p:cNvPr>
          <p:cNvSpPr>
            <a:spLocks noGrp="1"/>
          </p:cNvSpPr>
          <p:nvPr/>
        </p:nvSpPr>
        <p:spPr>
          <a:xfrm>
            <a:off x="6438900" y="2419350"/>
            <a:ext cx="49530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C6CE9B-FFD4-4225-96C5-9628ED7A06FD}"/>
              </a:ext>
            </a:extLst>
          </p:cNvPr>
          <p:cNvSpPr>
            <a:spLocks noGrp="1"/>
          </p:cNvSpPr>
          <p:nvPr/>
        </p:nvSpPr>
        <p:spPr>
          <a:xfrm>
            <a:off x="6438900" y="2419350"/>
            <a:ext cx="95250" cy="1123950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5F323-ECD0-486E-A9D1-FD68083FAA9F}"/>
              </a:ext>
            </a:extLst>
          </p:cNvPr>
          <p:cNvSpPr>
            <a:spLocks noGrp="1"/>
          </p:cNvSpPr>
          <p:nvPr/>
        </p:nvSpPr>
        <p:spPr>
          <a:xfrm>
            <a:off x="6667500" y="26098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67444A-73E4-45AE-9A87-B0FD30D8BAD0}"/>
              </a:ext>
            </a:extLst>
          </p:cNvPr>
          <p:cNvSpPr>
            <a:spLocks noGrp="1"/>
          </p:cNvSpPr>
          <p:nvPr/>
        </p:nvSpPr>
        <p:spPr>
          <a:xfrm>
            <a:off x="7258050" y="2600325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Run installer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849EEE-1771-4336-BFCA-ABA6900D9544}"/>
              </a:ext>
            </a:extLst>
          </p:cNvPr>
          <p:cNvSpPr>
            <a:spLocks noGrp="1"/>
          </p:cNvSpPr>
          <p:nvPr/>
        </p:nvSpPr>
        <p:spPr>
          <a:xfrm>
            <a:off x="7258050" y="2914650"/>
            <a:ext cx="3905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Accept the prompts and let Unity Hub install.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AD91B-BBC4-4A74-A79F-C270700FE989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49530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DBF0A6-055E-48AD-8A80-78470D5977EA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95250" cy="1123950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BCFBAE-492B-423E-B870-ECBA45C0DDD6}"/>
              </a:ext>
            </a:extLst>
          </p:cNvPr>
          <p:cNvSpPr>
            <a:spLocks noGrp="1"/>
          </p:cNvSpPr>
          <p:nvPr/>
        </p:nvSpPr>
        <p:spPr>
          <a:xfrm>
            <a:off x="1028700" y="41529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6E3889-50E9-4328-A3A4-4653C7C54FB3}"/>
              </a:ext>
            </a:extLst>
          </p:cNvPr>
          <p:cNvSpPr>
            <a:spLocks noGrp="1"/>
          </p:cNvSpPr>
          <p:nvPr/>
        </p:nvSpPr>
        <p:spPr>
          <a:xfrm>
            <a:off x="1619250" y="4143375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Open Hub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2B5E-5477-4121-8A86-3DE612C777C3}"/>
              </a:ext>
            </a:extLst>
          </p:cNvPr>
          <p:cNvSpPr>
            <a:spLocks noGrp="1"/>
          </p:cNvSpPr>
          <p:nvPr/>
        </p:nvSpPr>
        <p:spPr>
          <a:xfrm>
            <a:off x="1619250" y="4457700"/>
            <a:ext cx="3905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Launch Unity Hub after installation.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B1F49-CACE-4EA7-9201-E99DE5885886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49530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BE407E-1FC8-4B85-8169-7947D5F8D21F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95250" cy="1123950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0EBAA5-5E52-4940-96BF-B56732F64E1A}"/>
              </a:ext>
            </a:extLst>
          </p:cNvPr>
          <p:cNvSpPr>
            <a:spLocks noGrp="1"/>
          </p:cNvSpPr>
          <p:nvPr/>
        </p:nvSpPr>
        <p:spPr>
          <a:xfrm>
            <a:off x="6667500" y="41529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B14D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14D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5A282D7-F4CA-4383-95E5-F4017B618B53}"/>
              </a:ext>
            </a:extLst>
          </p:cNvPr>
          <p:cNvSpPr>
            <a:spLocks noGrp="1"/>
          </p:cNvSpPr>
          <p:nvPr/>
        </p:nvSpPr>
        <p:spPr>
          <a:xfrm>
            <a:off x="7258050" y="4143375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Sign in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7DF4F4-DAEC-421E-967C-B1413AB7B967}"/>
              </a:ext>
            </a:extLst>
          </p:cNvPr>
          <p:cNvSpPr>
            <a:spLocks noGrp="1"/>
          </p:cNvSpPr>
          <p:nvPr/>
        </p:nvSpPr>
        <p:spPr>
          <a:xfrm>
            <a:off x="7258050" y="4457700"/>
            <a:ext cx="3905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Sign in with a Unity account if Hub asks for license access.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069AC1-07EB-4C23-A664-173ED84C7AAE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16FD612-2366-410B-9F48-F931E6DEFEBF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AD03EE-9967-4303-9C9B-7207CE4B158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197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082F88A-D379-4632-BFE0-82181830C7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BEDC00-41E9-4061-92C7-B58DCA15854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43E451-4218-47AC-B13D-A6B152B653E7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Install Unity 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DB526C-A613-4758-A00E-79875D500DDA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 the same editor version as the project to avoid upgrade prompts.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C4C098-BBCD-49CE-9F25-E210CB57A8AA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56AFEB-EB59-4ED4-B683-F674CC57016F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95250" cy="1123950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4BC61F-70AE-4DAA-B763-78B0C7F7148E}"/>
              </a:ext>
            </a:extLst>
          </p:cNvPr>
          <p:cNvSpPr>
            <a:spLocks noGrp="1"/>
          </p:cNvSpPr>
          <p:nvPr/>
        </p:nvSpPr>
        <p:spPr>
          <a:xfrm>
            <a:off x="952500" y="25908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0CA65A-0581-442E-9AD4-1826CB9BD7E0}"/>
              </a:ext>
            </a:extLst>
          </p:cNvPr>
          <p:cNvSpPr>
            <a:spLocks noGrp="1"/>
          </p:cNvSpPr>
          <p:nvPr/>
        </p:nvSpPr>
        <p:spPr>
          <a:xfrm>
            <a:off x="1543050" y="25812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Open Installs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9821D8-9CB5-4C5B-944B-587818EECB6F}"/>
              </a:ext>
            </a:extLst>
          </p:cNvPr>
          <p:cNvSpPr>
            <a:spLocks noGrp="1"/>
          </p:cNvSpPr>
          <p:nvPr/>
        </p:nvSpPr>
        <p:spPr>
          <a:xfrm>
            <a:off x="1543050" y="28956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In Unity Hub, select Installs from the left sidebar.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C295C8-567A-4B0B-9F23-EE4782ADF7EC}"/>
              </a:ext>
            </a:extLst>
          </p:cNvPr>
          <p:cNvSpPr>
            <a:spLocks noGrp="1"/>
          </p:cNvSpPr>
          <p:nvPr/>
        </p:nvSpPr>
        <p:spPr>
          <a:xfrm>
            <a:off x="4419600" y="24003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06779E-D2F3-4FD3-BD26-D7F04BAB4025}"/>
              </a:ext>
            </a:extLst>
          </p:cNvPr>
          <p:cNvSpPr>
            <a:spLocks noGrp="1"/>
          </p:cNvSpPr>
          <p:nvPr/>
        </p:nvSpPr>
        <p:spPr>
          <a:xfrm>
            <a:off x="4419600" y="2400300"/>
            <a:ext cx="95250" cy="1123950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574C2B-2E50-4B13-AC3E-B49D7A1478A1}"/>
              </a:ext>
            </a:extLst>
          </p:cNvPr>
          <p:cNvSpPr>
            <a:spLocks noGrp="1"/>
          </p:cNvSpPr>
          <p:nvPr/>
        </p:nvSpPr>
        <p:spPr>
          <a:xfrm>
            <a:off x="4648200" y="25908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9F9E0E-1E5E-456C-9C8A-9DB51524A904}"/>
              </a:ext>
            </a:extLst>
          </p:cNvPr>
          <p:cNvSpPr>
            <a:spLocks noGrp="1"/>
          </p:cNvSpPr>
          <p:nvPr/>
        </p:nvSpPr>
        <p:spPr>
          <a:xfrm>
            <a:off x="5238750" y="25812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Install Editor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36F88-B1AD-4D75-8A72-BC6E874EC44A}"/>
              </a:ext>
            </a:extLst>
          </p:cNvPr>
          <p:cNvSpPr>
            <a:spLocks noGrp="1"/>
          </p:cNvSpPr>
          <p:nvPr/>
        </p:nvSpPr>
        <p:spPr>
          <a:xfrm>
            <a:off x="5238750" y="28956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Choose Install Editor and select Unity 6.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DFD206-63A5-4962-84B9-A6086061D00E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898793-CBCD-4CFD-824F-AE12F26E16B5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95250" cy="1123950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D78DBA-3FB1-4D97-84C8-524373FE2BA8}"/>
              </a:ext>
            </a:extLst>
          </p:cNvPr>
          <p:cNvSpPr>
            <a:spLocks noGrp="1"/>
          </p:cNvSpPr>
          <p:nvPr/>
        </p:nvSpPr>
        <p:spPr>
          <a:xfrm>
            <a:off x="8343900" y="25908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CDBC7C-AE96-4ACE-8088-12221D4D70B9}"/>
              </a:ext>
            </a:extLst>
          </p:cNvPr>
          <p:cNvSpPr>
            <a:spLocks noGrp="1"/>
          </p:cNvSpPr>
          <p:nvPr/>
        </p:nvSpPr>
        <p:spPr>
          <a:xfrm>
            <a:off x="8934450" y="25812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Choose version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2D66A2-7873-4AEF-9539-46C48EAC4137}"/>
              </a:ext>
            </a:extLst>
          </p:cNvPr>
          <p:cNvSpPr>
            <a:spLocks noGrp="1"/>
          </p:cNvSpPr>
          <p:nvPr/>
        </p:nvSpPr>
        <p:spPr>
          <a:xfrm>
            <a:off x="8934450" y="28956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Install Unity 6000.3.9f1 where available.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353291-F5A1-4485-B433-DAD08C17B802}"/>
              </a:ext>
            </a:extLst>
          </p:cNvPr>
          <p:cNvSpPr>
            <a:spLocks noGrp="1"/>
          </p:cNvSpPr>
          <p:nvPr/>
        </p:nvSpPr>
        <p:spPr>
          <a:xfrm>
            <a:off x="876300" y="4324350"/>
            <a:ext cx="6667500" cy="819150"/>
          </a:xfrm>
          <a:prstGeom prst="rect">
            <a:avLst/>
          </a:prstGeom>
          <a:solidFill>
            <a:srgbClr val="1824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8CD3ED-95DA-494D-8BB9-11E0ACF4FB06}"/>
              </a:ext>
            </a:extLst>
          </p:cNvPr>
          <p:cNvSpPr>
            <a:spLocks noGrp="1"/>
          </p:cNvSpPr>
          <p:nvPr/>
        </p:nvSpPr>
        <p:spPr>
          <a:xfrm>
            <a:off x="1085850" y="4514850"/>
            <a:ext cx="6248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B9F5D0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B9F5D0"/>
                </a:solidFill>
                <a:latin typeface="Consolas"/>
                <a:ea typeface="Consolas"/>
                <a:cs typeface="Consolas"/>
              </a:rPr>
              <a:t>Expected project version: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1963DEB-35E8-46F6-A248-F52CF9F21D2E}"/>
              </a:ext>
            </a:extLst>
          </p:cNvPr>
          <p:cNvSpPr>
            <a:spLocks noGrp="1"/>
          </p:cNvSpPr>
          <p:nvPr/>
        </p:nvSpPr>
        <p:spPr>
          <a:xfrm>
            <a:off x="1085850" y="4772025"/>
            <a:ext cx="6248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E8EEF4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E8EEF4"/>
                </a:solidFill>
                <a:latin typeface="Consolas"/>
                <a:ea typeface="Consolas"/>
                <a:cs typeface="Consolas"/>
              </a:rPr>
              <a:t>m_EditorVersion: 6000.3.9f1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7DFF90-2945-4729-9979-CE5008D3A7B0}"/>
              </a:ext>
            </a:extLst>
          </p:cNvPr>
          <p:cNvSpPr>
            <a:spLocks noGrp="1"/>
          </p:cNvSpPr>
          <p:nvPr/>
        </p:nvSpPr>
        <p:spPr>
          <a:xfrm>
            <a:off x="8001000" y="4114800"/>
            <a:ext cx="34290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FF084A-D7D7-4163-A2F4-A0FB527E8016}"/>
              </a:ext>
            </a:extLst>
          </p:cNvPr>
          <p:cNvSpPr>
            <a:spLocks noGrp="1"/>
          </p:cNvSpPr>
          <p:nvPr/>
        </p:nvSpPr>
        <p:spPr>
          <a:xfrm>
            <a:off x="8001000" y="4114800"/>
            <a:ext cx="95250" cy="1123950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A18EA9-CF62-470D-9E7F-BC5D21C18B45}"/>
              </a:ext>
            </a:extLst>
          </p:cNvPr>
          <p:cNvSpPr>
            <a:spLocks noGrp="1"/>
          </p:cNvSpPr>
          <p:nvPr/>
        </p:nvSpPr>
        <p:spPr>
          <a:xfrm>
            <a:off x="8229600" y="43053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B14D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14D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A87A448-2AA2-496A-94DE-4B3A594B8BB5}"/>
              </a:ext>
            </a:extLst>
          </p:cNvPr>
          <p:cNvSpPr>
            <a:spLocks noGrp="1"/>
          </p:cNvSpPr>
          <p:nvPr/>
        </p:nvSpPr>
        <p:spPr>
          <a:xfrm>
            <a:off x="8820150" y="4295775"/>
            <a:ext cx="238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Keep modules simple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60ACDA7-5262-47D0-BC55-188A9F860D23}"/>
              </a:ext>
            </a:extLst>
          </p:cNvPr>
          <p:cNvSpPr>
            <a:spLocks noGrp="1"/>
          </p:cNvSpPr>
          <p:nvPr/>
        </p:nvSpPr>
        <p:spPr>
          <a:xfrm>
            <a:off x="8820150" y="4610100"/>
            <a:ext cx="2381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No extra build modules are required for the editor-only tutoring showcase.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B1A29-FEE2-4686-9635-558C45078D17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ABC6C94-12CD-4E93-9C26-3B9ACB72B18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70F31-C41E-4852-9A60-09F8C0004B62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00195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32BFCA6-E53C-44E5-8520-BC1703645D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35F111-34A8-479C-A916-DDCD59A81FA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D7A5A4-B7DE-46D2-AEEA-50CDB3A3A45E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Get the project from GitHub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91020B-86D8-4836-AE40-8099A8B98D70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Clone the public repository once it has been created.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EE682C-48C0-4BF1-83B0-5F1B0B5CCE65}"/>
              </a:ext>
            </a:extLst>
          </p:cNvPr>
          <p:cNvSpPr>
            <a:spLocks noGrp="1"/>
          </p:cNvSpPr>
          <p:nvPr/>
        </p:nvSpPr>
        <p:spPr>
          <a:xfrm>
            <a:off x="819150" y="24384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EA09DC-157F-4E05-B18C-B314B1E93B8C}"/>
              </a:ext>
            </a:extLst>
          </p:cNvPr>
          <p:cNvSpPr>
            <a:spLocks noGrp="1"/>
          </p:cNvSpPr>
          <p:nvPr/>
        </p:nvSpPr>
        <p:spPr>
          <a:xfrm>
            <a:off x="819150" y="2438400"/>
            <a:ext cx="95250" cy="1123950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D1E1F4-52E7-469C-9756-DCCE91E4E376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02B34B-2597-4E0D-B68E-10C193D02F04}"/>
              </a:ext>
            </a:extLst>
          </p:cNvPr>
          <p:cNvSpPr>
            <a:spLocks noGrp="1"/>
          </p:cNvSpPr>
          <p:nvPr/>
        </p:nvSpPr>
        <p:spPr>
          <a:xfrm>
            <a:off x="1638300" y="26193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Open PowerShell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2521C0-4C59-4813-836F-EAFB972760FC}"/>
              </a:ext>
            </a:extLst>
          </p:cNvPr>
          <p:cNvSpPr>
            <a:spLocks noGrp="1"/>
          </p:cNvSpPr>
          <p:nvPr/>
        </p:nvSpPr>
        <p:spPr>
          <a:xfrm>
            <a:off x="1638300" y="29337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 a folder where you keep Unity projects.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97460-D63F-44E6-8BF6-1E5A1B4DBA05}"/>
              </a:ext>
            </a:extLst>
          </p:cNvPr>
          <p:cNvSpPr>
            <a:spLocks noGrp="1"/>
          </p:cNvSpPr>
          <p:nvPr/>
        </p:nvSpPr>
        <p:spPr>
          <a:xfrm>
            <a:off x="4438650" y="24384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06C10E-7ED4-46B2-BDDD-2F262E8E32A9}"/>
              </a:ext>
            </a:extLst>
          </p:cNvPr>
          <p:cNvSpPr>
            <a:spLocks noGrp="1"/>
          </p:cNvSpPr>
          <p:nvPr/>
        </p:nvSpPr>
        <p:spPr>
          <a:xfrm>
            <a:off x="4438650" y="2438400"/>
            <a:ext cx="95250" cy="1123950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48286E-BFAE-4139-8EA5-AB7F78F39D3C}"/>
              </a:ext>
            </a:extLst>
          </p:cNvPr>
          <p:cNvSpPr>
            <a:spLocks noGrp="1"/>
          </p:cNvSpPr>
          <p:nvPr/>
        </p:nvSpPr>
        <p:spPr>
          <a:xfrm>
            <a:off x="4667250" y="26289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1B94D1-B427-453B-9104-6A607BE4EEE5}"/>
              </a:ext>
            </a:extLst>
          </p:cNvPr>
          <p:cNvSpPr>
            <a:spLocks noGrp="1"/>
          </p:cNvSpPr>
          <p:nvPr/>
        </p:nvSpPr>
        <p:spPr>
          <a:xfrm>
            <a:off x="5257800" y="26193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Clone repo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CE239B-556C-4204-97A3-A0E81FE6AACD}"/>
              </a:ext>
            </a:extLst>
          </p:cNvPr>
          <p:cNvSpPr>
            <a:spLocks noGrp="1"/>
          </p:cNvSpPr>
          <p:nvPr/>
        </p:nvSpPr>
        <p:spPr>
          <a:xfrm>
            <a:off x="5257800" y="29337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Run git clone with the repository URL.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9C7726-5590-42F3-82F1-1B2108663343}"/>
              </a:ext>
            </a:extLst>
          </p:cNvPr>
          <p:cNvSpPr>
            <a:spLocks noGrp="1"/>
          </p:cNvSpPr>
          <p:nvPr/>
        </p:nvSpPr>
        <p:spPr>
          <a:xfrm>
            <a:off x="8058150" y="24384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85493E-8DD7-4E15-A5E9-CCB0BF22A077}"/>
              </a:ext>
            </a:extLst>
          </p:cNvPr>
          <p:cNvSpPr>
            <a:spLocks noGrp="1"/>
          </p:cNvSpPr>
          <p:nvPr/>
        </p:nvSpPr>
        <p:spPr>
          <a:xfrm>
            <a:off x="8058150" y="2438400"/>
            <a:ext cx="95250" cy="1123950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9EF98F-5F1D-4989-8F2D-A952E81AEAC0}"/>
              </a:ext>
            </a:extLst>
          </p:cNvPr>
          <p:cNvSpPr>
            <a:spLocks noGrp="1"/>
          </p:cNvSpPr>
          <p:nvPr/>
        </p:nvSpPr>
        <p:spPr>
          <a:xfrm>
            <a:off x="8286750" y="26289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164A74E-8593-4AF3-A6F0-A7EB7E37591A}"/>
              </a:ext>
            </a:extLst>
          </p:cNvPr>
          <p:cNvSpPr>
            <a:spLocks noGrp="1"/>
          </p:cNvSpPr>
          <p:nvPr/>
        </p:nvSpPr>
        <p:spPr>
          <a:xfrm>
            <a:off x="8877300" y="26193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Enter folder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099A18-91CD-41F2-AE84-C6908873A724}"/>
              </a:ext>
            </a:extLst>
          </p:cNvPr>
          <p:cNvSpPr>
            <a:spLocks noGrp="1"/>
          </p:cNvSpPr>
          <p:nvPr/>
        </p:nvSpPr>
        <p:spPr>
          <a:xfrm>
            <a:off x="8877300" y="29337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Change into the cloned project directory.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1032E1-26C2-47CE-A5B2-6E0376FEA901}"/>
              </a:ext>
            </a:extLst>
          </p:cNvPr>
          <p:cNvSpPr>
            <a:spLocks noGrp="1"/>
          </p:cNvSpPr>
          <p:nvPr/>
        </p:nvSpPr>
        <p:spPr>
          <a:xfrm>
            <a:off x="819150" y="4191000"/>
            <a:ext cx="8763000" cy="1123950"/>
          </a:xfrm>
          <a:prstGeom prst="rect">
            <a:avLst/>
          </a:prstGeom>
          <a:solidFill>
            <a:srgbClr val="1824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C381D7-1370-4A2B-91F8-8C595807BF3B}"/>
              </a:ext>
            </a:extLst>
          </p:cNvPr>
          <p:cNvSpPr>
            <a:spLocks noGrp="1"/>
          </p:cNvSpPr>
          <p:nvPr/>
        </p:nvSpPr>
        <p:spPr>
          <a:xfrm>
            <a:off x="1028700" y="4381500"/>
            <a:ext cx="8343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B9F5D0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B9F5D0"/>
                </a:solidFill>
                <a:latin typeface="Consolas"/>
                <a:ea typeface="Consolas"/>
                <a:cs typeface="Consolas"/>
              </a:rPr>
              <a:t>Clone commands: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A7D3FE-E34C-4718-8A8B-39012D0293F6}"/>
              </a:ext>
            </a:extLst>
          </p:cNvPr>
          <p:cNvSpPr>
            <a:spLocks noGrp="1"/>
          </p:cNvSpPr>
          <p:nvPr/>
        </p:nvSpPr>
        <p:spPr>
          <a:xfrm>
            <a:off x="1028700" y="4638675"/>
            <a:ext cx="8343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E8EEF4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E8EEF4"/>
                </a:solidFill>
                <a:latin typeface="Consolas"/>
                <a:ea typeface="Consolas"/>
                <a:cs typeface="Consolas"/>
              </a:rPr>
              <a:t>git clone https://github.com/Vargr013/Unity-Showcase-project-Tutoring.git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2F99CF-1050-424D-89D8-1C5ADBAB50CD}"/>
              </a:ext>
            </a:extLst>
          </p:cNvPr>
          <p:cNvSpPr>
            <a:spLocks noGrp="1"/>
          </p:cNvSpPr>
          <p:nvPr/>
        </p:nvSpPr>
        <p:spPr>
          <a:xfrm>
            <a:off x="1028700" y="4895850"/>
            <a:ext cx="8343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E8EEF4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E8EEF4"/>
                </a:solidFill>
                <a:latin typeface="Consolas"/>
                <a:ea typeface="Consolas"/>
                <a:cs typeface="Consolas"/>
              </a:rPr>
              <a:t>cd Unity-Showcase-project-Tutoring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9D2801-EB1F-485C-8753-254C89C2150C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DB0C98-9FE7-43AF-A032-39CB927D60DC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BE7F074-7951-4013-86B6-32D72D0AB959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82495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EA8581D5-53CA-4106-A857-F22D99DD0D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E85C55-8BC5-4AD5-9717-BF0A13D8B22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03B4D-C78D-49CD-BB20-476E9F559C56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Open the project in Unity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45FCE-AC3B-4E5D-8DBA-9AA25BE88DB3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Open the cloned repository folder, not a new empty project.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5AF2E-8FD1-4335-A8D5-AFD9709FA4C7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4857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6A82E5-64A4-4902-B027-CBDA32ACEB24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95250" cy="1123950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8DC345-4C21-4113-9FBA-DED01A595227}"/>
              </a:ext>
            </a:extLst>
          </p:cNvPr>
          <p:cNvSpPr>
            <a:spLocks noGrp="1"/>
          </p:cNvSpPr>
          <p:nvPr/>
        </p:nvSpPr>
        <p:spPr>
          <a:xfrm>
            <a:off x="990600" y="25908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63E8FF-D399-4022-B9FC-87DF3723A3AB}"/>
              </a:ext>
            </a:extLst>
          </p:cNvPr>
          <p:cNvSpPr>
            <a:spLocks noGrp="1"/>
          </p:cNvSpPr>
          <p:nvPr/>
        </p:nvSpPr>
        <p:spPr>
          <a:xfrm>
            <a:off x="1581150" y="2581275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Open Projects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0FF5C4-1A7A-4EA1-AD6A-B778DF10FF11}"/>
              </a:ext>
            </a:extLst>
          </p:cNvPr>
          <p:cNvSpPr>
            <a:spLocks noGrp="1"/>
          </p:cNvSpPr>
          <p:nvPr/>
        </p:nvSpPr>
        <p:spPr>
          <a:xfrm>
            <a:off x="1581150" y="2895600"/>
            <a:ext cx="3810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In Unity Hub, go to Projects.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829B4E-34EA-4EF3-87CC-8C2FB1F4F5A2}"/>
              </a:ext>
            </a:extLst>
          </p:cNvPr>
          <p:cNvSpPr>
            <a:spLocks noGrp="1"/>
          </p:cNvSpPr>
          <p:nvPr/>
        </p:nvSpPr>
        <p:spPr>
          <a:xfrm>
            <a:off x="6572250" y="2400300"/>
            <a:ext cx="4857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DF35EC-C576-49B9-8F7E-9EEC002DCE27}"/>
              </a:ext>
            </a:extLst>
          </p:cNvPr>
          <p:cNvSpPr>
            <a:spLocks noGrp="1"/>
          </p:cNvSpPr>
          <p:nvPr/>
        </p:nvSpPr>
        <p:spPr>
          <a:xfrm>
            <a:off x="6572250" y="2400300"/>
            <a:ext cx="95250" cy="1123950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BFA59B-C7F5-410A-9176-57905A6F0787}"/>
              </a:ext>
            </a:extLst>
          </p:cNvPr>
          <p:cNvSpPr>
            <a:spLocks noGrp="1"/>
          </p:cNvSpPr>
          <p:nvPr/>
        </p:nvSpPr>
        <p:spPr>
          <a:xfrm>
            <a:off x="6800850" y="25908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A98CB1-EFD1-4107-80DD-AE098C12DE45}"/>
              </a:ext>
            </a:extLst>
          </p:cNvPr>
          <p:cNvSpPr>
            <a:spLocks noGrp="1"/>
          </p:cNvSpPr>
          <p:nvPr/>
        </p:nvSpPr>
        <p:spPr>
          <a:xfrm>
            <a:off x="7391400" y="2581275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Add from disk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DE4EA-08AC-4521-976A-5CC0F1A3CC70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3810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Choose Add or Open and browse to the cloned folder.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64F12B-140D-4D52-986A-A716EAA84DD8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4857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141FC1-33EA-4FA6-9D14-AF94BE32FEA9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95250" cy="1123950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48B3B3-0787-4567-8C3D-C57E64578CEE}"/>
              </a:ext>
            </a:extLst>
          </p:cNvPr>
          <p:cNvSpPr>
            <a:spLocks noGrp="1"/>
          </p:cNvSpPr>
          <p:nvPr/>
        </p:nvSpPr>
        <p:spPr>
          <a:xfrm>
            <a:off x="990600" y="40767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871502-E35D-4E90-B796-E0780369D364}"/>
              </a:ext>
            </a:extLst>
          </p:cNvPr>
          <p:cNvSpPr>
            <a:spLocks noGrp="1"/>
          </p:cNvSpPr>
          <p:nvPr/>
        </p:nvSpPr>
        <p:spPr>
          <a:xfrm>
            <a:off x="1581150" y="4067175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Select folder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DDA339-A6F7-4677-981F-44E6A211E6AD}"/>
              </a:ext>
            </a:extLst>
          </p:cNvPr>
          <p:cNvSpPr>
            <a:spLocks noGrp="1"/>
          </p:cNvSpPr>
          <p:nvPr/>
        </p:nvSpPr>
        <p:spPr>
          <a:xfrm>
            <a:off x="1581150" y="4381500"/>
            <a:ext cx="3810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Select the folder that contains Assets, Packages, and ProjectSettings.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F8CB03-E467-4268-A4A3-B247804F5A53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4857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3C38EE-4C6B-4E9B-BA53-B5F6608E0103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95250" cy="1123950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591A91-BEA5-476E-9C88-8CADEE5444AA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B14D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14D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0AE010-1E48-4C4C-B48B-693B77D379AF}"/>
              </a:ext>
            </a:extLst>
          </p:cNvPr>
          <p:cNvSpPr>
            <a:spLocks noGrp="1"/>
          </p:cNvSpPr>
          <p:nvPr/>
        </p:nvSpPr>
        <p:spPr>
          <a:xfrm>
            <a:off x="7391400" y="4067175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Import once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0CD822-AE84-478A-A422-098F622A0B31}"/>
              </a:ext>
            </a:extLst>
          </p:cNvPr>
          <p:cNvSpPr>
            <a:spLocks noGrp="1"/>
          </p:cNvSpPr>
          <p:nvPr/>
        </p:nvSpPr>
        <p:spPr>
          <a:xfrm>
            <a:off x="7391400" y="4381500"/>
            <a:ext cx="3810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Let Unity build the local Library cache on first open.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D2531F8-96CA-4409-8082-EFD729D0E90F}"/>
              </a:ext>
            </a:extLst>
          </p:cNvPr>
          <p:cNvSpPr>
            <a:spLocks noGrp="1"/>
          </p:cNvSpPr>
          <p:nvPr/>
        </p:nvSpPr>
        <p:spPr>
          <a:xfrm>
            <a:off x="781050" y="5353050"/>
            <a:ext cx="5810250" cy="781050"/>
          </a:xfrm>
          <a:prstGeom prst="rect">
            <a:avLst/>
          </a:prstGeom>
          <a:solidFill>
            <a:srgbClr val="18242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0784D13-C70E-47F4-9769-A0EEAAD9794E}"/>
              </a:ext>
            </a:extLst>
          </p:cNvPr>
          <p:cNvSpPr>
            <a:spLocks noGrp="1"/>
          </p:cNvSpPr>
          <p:nvPr/>
        </p:nvSpPr>
        <p:spPr>
          <a:xfrm>
            <a:off x="990600" y="5543550"/>
            <a:ext cx="5391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B9F5D0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B9F5D0"/>
                </a:solidFill>
                <a:latin typeface="Consolas"/>
                <a:ea typeface="Consolas"/>
                <a:cs typeface="Consolas"/>
              </a:rPr>
              <a:t>Expected project folders: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E62687-9E47-4160-9045-9A848D9C5833}"/>
              </a:ext>
            </a:extLst>
          </p:cNvPr>
          <p:cNvSpPr>
            <a:spLocks noGrp="1"/>
          </p:cNvSpPr>
          <p:nvPr/>
        </p:nvSpPr>
        <p:spPr>
          <a:xfrm>
            <a:off x="990600" y="5800725"/>
            <a:ext cx="5391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E8EEF4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E8EEF4"/>
                </a:solidFill>
                <a:latin typeface="Consolas"/>
                <a:ea typeface="Consolas"/>
                <a:cs typeface="Consolas"/>
              </a:rPr>
              <a:t>Assets | Packages | ProjectSettings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FE0605-583D-4098-8A5C-6246BBEF69DD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7A47AF-4511-4307-A3D9-34CEFC8DE358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048245-435C-452F-B351-6105C17BD18E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86150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7B066B20-FB45-490A-9BC6-21564C19E8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BC658C-B064-49AD-9813-57BAFB3A78D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A3D9C0-6181-4592-BE9D-62DDCDA7D950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Run the primitive showcase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3580D-02E4-49EE-9A1E-E43A43BDFCEE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The main scene is already included in the repository.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D705C-88CC-4435-A648-A054361BA575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D88D96-EE65-4572-8A33-5EDB21795A3F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95250" cy="1123950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BD692A-BC5D-4C1A-8364-8EFB329DD691}"/>
              </a:ext>
            </a:extLst>
          </p:cNvPr>
          <p:cNvSpPr>
            <a:spLocks noGrp="1"/>
          </p:cNvSpPr>
          <p:nvPr/>
        </p:nvSpPr>
        <p:spPr>
          <a:xfrm>
            <a:off x="952500" y="26670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773D43-7525-41DD-A4E0-4553B34E0B28}"/>
              </a:ext>
            </a:extLst>
          </p:cNvPr>
          <p:cNvSpPr>
            <a:spLocks noGrp="1"/>
          </p:cNvSpPr>
          <p:nvPr/>
        </p:nvSpPr>
        <p:spPr>
          <a:xfrm>
            <a:off x="1543050" y="26574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Open scene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7CBFCA-45FE-4E9B-AD6C-2E05F328CD68}"/>
              </a:ext>
            </a:extLst>
          </p:cNvPr>
          <p:cNvSpPr>
            <a:spLocks noGrp="1"/>
          </p:cNvSpPr>
          <p:nvPr/>
        </p:nvSpPr>
        <p:spPr>
          <a:xfrm>
            <a:off x="1543050" y="29718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Open Assets &gt; Scenes &gt; PrimitiveShowcase.unity.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E64724-4220-48AB-B8DF-E05E41C846E6}"/>
              </a:ext>
            </a:extLst>
          </p:cNvPr>
          <p:cNvSpPr>
            <a:spLocks noGrp="1"/>
          </p:cNvSpPr>
          <p:nvPr/>
        </p:nvSpPr>
        <p:spPr>
          <a:xfrm>
            <a:off x="4419600" y="24765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2228DA-E186-4ACB-9418-DE6F923C66E1}"/>
              </a:ext>
            </a:extLst>
          </p:cNvPr>
          <p:cNvSpPr>
            <a:spLocks noGrp="1"/>
          </p:cNvSpPr>
          <p:nvPr/>
        </p:nvSpPr>
        <p:spPr>
          <a:xfrm>
            <a:off x="4419600" y="2476500"/>
            <a:ext cx="95250" cy="1123950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C3AB87-4341-4156-8F53-9CC6352343E8}"/>
              </a:ext>
            </a:extLst>
          </p:cNvPr>
          <p:cNvSpPr>
            <a:spLocks noGrp="1"/>
          </p:cNvSpPr>
          <p:nvPr/>
        </p:nvSpPr>
        <p:spPr>
          <a:xfrm>
            <a:off x="4648200" y="26670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9005E6-DFF7-45E9-B8ED-5DA1D376B4DB}"/>
              </a:ext>
            </a:extLst>
          </p:cNvPr>
          <p:cNvSpPr>
            <a:spLocks noGrp="1"/>
          </p:cNvSpPr>
          <p:nvPr/>
        </p:nvSpPr>
        <p:spPr>
          <a:xfrm>
            <a:off x="5238750" y="26574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Press Play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1C29B7-1428-4214-B5A3-71AFA950C83E}"/>
              </a:ext>
            </a:extLst>
          </p:cNvPr>
          <p:cNvSpPr>
            <a:spLocks noGrp="1"/>
          </p:cNvSpPr>
          <p:nvPr/>
        </p:nvSpPr>
        <p:spPr>
          <a:xfrm>
            <a:off x="5238750" y="29718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 the Play button at the top of the Unity Editor.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4DF6F1-AAC4-4057-9B84-FB7C94BEDD94}"/>
              </a:ext>
            </a:extLst>
          </p:cNvPr>
          <p:cNvSpPr>
            <a:spLocks noGrp="1"/>
          </p:cNvSpPr>
          <p:nvPr/>
        </p:nvSpPr>
        <p:spPr>
          <a:xfrm>
            <a:off x="8115300" y="2476500"/>
            <a:ext cx="33337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74186-5ABC-42D7-87D8-65FBCE871D53}"/>
              </a:ext>
            </a:extLst>
          </p:cNvPr>
          <p:cNvSpPr>
            <a:spLocks noGrp="1"/>
          </p:cNvSpPr>
          <p:nvPr/>
        </p:nvSpPr>
        <p:spPr>
          <a:xfrm>
            <a:off x="8115300" y="2476500"/>
            <a:ext cx="95250" cy="1123950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118A95-D87C-4EE9-BD4C-2C7D6F1D5582}"/>
              </a:ext>
            </a:extLst>
          </p:cNvPr>
          <p:cNvSpPr>
            <a:spLocks noGrp="1"/>
          </p:cNvSpPr>
          <p:nvPr/>
        </p:nvSpPr>
        <p:spPr>
          <a:xfrm>
            <a:off x="8343900" y="26670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D2448D-6211-458E-924F-0BC453582433}"/>
              </a:ext>
            </a:extLst>
          </p:cNvPr>
          <p:cNvSpPr>
            <a:spLocks noGrp="1"/>
          </p:cNvSpPr>
          <p:nvPr/>
        </p:nvSpPr>
        <p:spPr>
          <a:xfrm>
            <a:off x="8934450" y="2657475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Check objects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058BA7-646E-40E5-B994-8800C1192152}"/>
              </a:ext>
            </a:extLst>
          </p:cNvPr>
          <p:cNvSpPr>
            <a:spLocks noGrp="1"/>
          </p:cNvSpPr>
          <p:nvPr/>
        </p:nvSpPr>
        <p:spPr>
          <a:xfrm>
            <a:off x="8934450" y="2971800"/>
            <a:ext cx="2286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Look for the blue sphere, green floor, obstacles, side barriers, and ramp.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1B08DB-8C4C-4960-AD43-F594FA7BEF43}"/>
              </a:ext>
            </a:extLst>
          </p:cNvPr>
          <p:cNvSpPr>
            <a:spLocks noGrp="1"/>
          </p:cNvSpPr>
          <p:nvPr/>
        </p:nvSpPr>
        <p:spPr>
          <a:xfrm>
            <a:off x="2571750" y="4248150"/>
            <a:ext cx="704850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ED6C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FFAFFD-33DF-4A52-95F7-F29AE48F4764}"/>
              </a:ext>
            </a:extLst>
          </p:cNvPr>
          <p:cNvSpPr>
            <a:spLocks noGrp="1"/>
          </p:cNvSpPr>
          <p:nvPr/>
        </p:nvSpPr>
        <p:spPr>
          <a:xfrm>
            <a:off x="2571750" y="4248150"/>
            <a:ext cx="95250" cy="1123950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25F7B7D-E09E-43C0-BAB3-F97CABDEE7CD}"/>
              </a:ext>
            </a:extLst>
          </p:cNvPr>
          <p:cNvSpPr>
            <a:spLocks noGrp="1"/>
          </p:cNvSpPr>
          <p:nvPr/>
        </p:nvSpPr>
        <p:spPr>
          <a:xfrm>
            <a:off x="2800350" y="44386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B14D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14D3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7457221-CAD3-4428-B83D-40798E07E051}"/>
              </a:ext>
            </a:extLst>
          </p:cNvPr>
          <p:cNvSpPr>
            <a:spLocks noGrp="1"/>
          </p:cNvSpPr>
          <p:nvPr/>
        </p:nvSpPr>
        <p:spPr>
          <a:xfrm>
            <a:off x="3390900" y="4429125"/>
            <a:ext cx="6000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Stop Play mode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D03224-8036-4B7F-9CEA-7E5DC01F5109}"/>
              </a:ext>
            </a:extLst>
          </p:cNvPr>
          <p:cNvSpPr>
            <a:spLocks noGrp="1"/>
          </p:cNvSpPr>
          <p:nvPr/>
        </p:nvSpPr>
        <p:spPr>
          <a:xfrm>
            <a:off x="3390900" y="4743450"/>
            <a:ext cx="600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Press Play again before editing values or scene objects.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E5A276C-D635-4214-96D6-91711FCA3BDA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C14ACE-2689-4F66-8A3B-88C212B3E80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4C9E33-94D5-44E0-9C80-304F0011A4F6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331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CD17751-76B9-4D95-AEEE-0DC151E61C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D2791F-4B20-452E-B5D8-A0E02CC2935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STEP 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2A7D51-3361-44D5-A8CA-817C1DAA441E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Test the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414CB4-21D9-4D66-8187-5F912A286E7B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The single gameplay script controls the sphere player.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5DB7A5-62B3-44A8-96C7-AB7AD86B5BE8}"/>
              </a:ext>
            </a:extLst>
          </p:cNvPr>
          <p:cNvSpPr>
            <a:spLocks noGrp="1"/>
          </p:cNvSpPr>
          <p:nvPr/>
        </p:nvSpPr>
        <p:spPr>
          <a:xfrm>
            <a:off x="819150" y="2552700"/>
            <a:ext cx="2571750" cy="914400"/>
          </a:xfrm>
          <a:prstGeom prst="rect">
            <a:avLst/>
          </a:prstGeom>
          <a:solidFill>
            <a:srgbClr val="FFFFFF"/>
          </a:solidFill>
          <a:ln w="14288">
            <a:solidFill>
              <a:srgbClr val="2F7D5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007F97-AA28-42D6-BA44-8E5D7400C292}"/>
              </a:ext>
            </a:extLst>
          </p:cNvPr>
          <p:cNvSpPr>
            <a:spLocks noGrp="1"/>
          </p:cNvSpPr>
          <p:nvPr/>
        </p:nvSpPr>
        <p:spPr>
          <a:xfrm>
            <a:off x="819150" y="27432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W / Up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B61BE2-CF4B-4E23-8D3C-56D203BBAD30}"/>
              </a:ext>
            </a:extLst>
          </p:cNvPr>
          <p:cNvSpPr>
            <a:spLocks noGrp="1"/>
          </p:cNvSpPr>
          <p:nvPr/>
        </p:nvSpPr>
        <p:spPr>
          <a:xfrm>
            <a:off x="819150" y="308610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Move forward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438D0E-9E98-463E-B0DA-A95CAB219987}"/>
              </a:ext>
            </a:extLst>
          </p:cNvPr>
          <p:cNvSpPr>
            <a:spLocks noGrp="1"/>
          </p:cNvSpPr>
          <p:nvPr/>
        </p:nvSpPr>
        <p:spPr>
          <a:xfrm>
            <a:off x="4324350" y="2552700"/>
            <a:ext cx="2571750" cy="914400"/>
          </a:xfrm>
          <a:prstGeom prst="rect">
            <a:avLst/>
          </a:prstGeom>
          <a:solidFill>
            <a:srgbClr val="FFFFFF"/>
          </a:solidFill>
          <a:ln w="14288">
            <a:solidFill>
              <a:srgbClr val="2F6F9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DD293D-C75A-4446-8F40-39BFF2D2D92F}"/>
              </a:ext>
            </a:extLst>
          </p:cNvPr>
          <p:cNvSpPr>
            <a:spLocks noGrp="1"/>
          </p:cNvSpPr>
          <p:nvPr/>
        </p:nvSpPr>
        <p:spPr>
          <a:xfrm>
            <a:off x="4324350" y="27432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2F6F9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6F9F"/>
                </a:solidFill>
                <a:latin typeface="Aptos"/>
                <a:ea typeface="Aptos"/>
                <a:cs typeface="Aptos"/>
              </a:rPr>
              <a:t>S / Down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90F5EC-AF5D-4CAC-A22B-6B9559FF35FA}"/>
              </a:ext>
            </a:extLst>
          </p:cNvPr>
          <p:cNvSpPr>
            <a:spLocks noGrp="1"/>
          </p:cNvSpPr>
          <p:nvPr/>
        </p:nvSpPr>
        <p:spPr>
          <a:xfrm>
            <a:off x="4324350" y="308610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Move backward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8836F0-8C7B-4842-977B-EFC9CDF9532F}"/>
              </a:ext>
            </a:extLst>
          </p:cNvPr>
          <p:cNvSpPr>
            <a:spLocks noGrp="1"/>
          </p:cNvSpPr>
          <p:nvPr/>
        </p:nvSpPr>
        <p:spPr>
          <a:xfrm>
            <a:off x="7829550" y="2552700"/>
            <a:ext cx="2571750" cy="914400"/>
          </a:xfrm>
          <a:prstGeom prst="rect">
            <a:avLst/>
          </a:prstGeom>
          <a:solidFill>
            <a:srgbClr val="FFFFFF"/>
          </a:solidFill>
          <a:ln w="14288">
            <a:solidFill>
              <a:srgbClr val="C9822D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91B6D6-9CBC-4FBB-92BB-DC7BA33EDAF0}"/>
              </a:ext>
            </a:extLst>
          </p:cNvPr>
          <p:cNvSpPr>
            <a:spLocks noGrp="1"/>
          </p:cNvSpPr>
          <p:nvPr/>
        </p:nvSpPr>
        <p:spPr>
          <a:xfrm>
            <a:off x="7829550" y="274320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C982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9822D"/>
                </a:solidFill>
                <a:latin typeface="Aptos"/>
                <a:ea typeface="Aptos"/>
                <a:cs typeface="Aptos"/>
              </a:rPr>
              <a:t>A / Left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D82DE5-9794-4E44-969F-4EFDCEA4057F}"/>
              </a:ext>
            </a:extLst>
          </p:cNvPr>
          <p:cNvSpPr>
            <a:spLocks noGrp="1"/>
          </p:cNvSpPr>
          <p:nvPr/>
        </p:nvSpPr>
        <p:spPr>
          <a:xfrm>
            <a:off x="7829550" y="308610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Move left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6DE4CF-C845-493C-96FB-A2103CF4B197}"/>
              </a:ext>
            </a:extLst>
          </p:cNvPr>
          <p:cNvSpPr>
            <a:spLocks noGrp="1"/>
          </p:cNvSpPr>
          <p:nvPr/>
        </p:nvSpPr>
        <p:spPr>
          <a:xfrm>
            <a:off x="2571750" y="4210050"/>
            <a:ext cx="2571750" cy="914400"/>
          </a:xfrm>
          <a:prstGeom prst="rect">
            <a:avLst/>
          </a:prstGeom>
          <a:solidFill>
            <a:srgbClr val="FFFFFF"/>
          </a:solidFill>
          <a:ln w="14288">
            <a:solidFill>
              <a:srgbClr val="B14D3D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9F0481-6F78-48E8-9E65-381BE20BE112}"/>
              </a:ext>
            </a:extLst>
          </p:cNvPr>
          <p:cNvSpPr>
            <a:spLocks noGrp="1"/>
          </p:cNvSpPr>
          <p:nvPr/>
        </p:nvSpPr>
        <p:spPr>
          <a:xfrm>
            <a:off x="2571750" y="440055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B14D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14D3D"/>
                </a:solidFill>
                <a:latin typeface="Aptos"/>
                <a:ea typeface="Aptos"/>
                <a:cs typeface="Aptos"/>
              </a:rPr>
              <a:t>D / Right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014E0-E2E5-4F96-B396-7AC4D6FB6F25}"/>
              </a:ext>
            </a:extLst>
          </p:cNvPr>
          <p:cNvSpPr>
            <a:spLocks noGrp="1"/>
          </p:cNvSpPr>
          <p:nvPr/>
        </p:nvSpPr>
        <p:spPr>
          <a:xfrm>
            <a:off x="2571750" y="474345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Move right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C51A84-E584-4A6A-83FB-20C576B90476}"/>
              </a:ext>
            </a:extLst>
          </p:cNvPr>
          <p:cNvSpPr>
            <a:spLocks noGrp="1"/>
          </p:cNvSpPr>
          <p:nvPr/>
        </p:nvSpPr>
        <p:spPr>
          <a:xfrm>
            <a:off x="6076950" y="4210050"/>
            <a:ext cx="2571750" cy="914400"/>
          </a:xfrm>
          <a:prstGeom prst="rect">
            <a:avLst/>
          </a:prstGeom>
          <a:solidFill>
            <a:srgbClr val="FFFFFF"/>
          </a:solidFill>
          <a:ln w="14288">
            <a:solidFill>
              <a:srgbClr val="2F7D5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0E54B3-F8EA-4081-8CED-53D926A1A60C}"/>
              </a:ext>
            </a:extLst>
          </p:cNvPr>
          <p:cNvSpPr>
            <a:spLocks noGrp="1"/>
          </p:cNvSpPr>
          <p:nvPr/>
        </p:nvSpPr>
        <p:spPr>
          <a:xfrm>
            <a:off x="6076950" y="4400550"/>
            <a:ext cx="2571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7CD0A0-7519-452A-BB8E-BE776C74C4F2}"/>
              </a:ext>
            </a:extLst>
          </p:cNvPr>
          <p:cNvSpPr>
            <a:spLocks noGrp="1"/>
          </p:cNvSpPr>
          <p:nvPr/>
        </p:nvSpPr>
        <p:spPr>
          <a:xfrm>
            <a:off x="6076950" y="474345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Jump while grounded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5C284A-CAF0-4414-ACB0-04EE131AE103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F99F44-0349-4667-A3D6-2682DBE88D1B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7ABD64-D6B0-48B3-A7A1-758191DA00E3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97516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773BE93-3521-499E-B932-8B8EDA16B8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C4849-C518-439F-8E5B-7EC6B34F997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D56"/>
                </a:solidFill>
                <a:latin typeface="Aptos"/>
                <a:ea typeface="Aptos"/>
                <a:cs typeface="Aptos"/>
              </a:rPr>
              <a:t>TROUBLESHOOTING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8C9C75-9B9E-4FAA-A1E0-695EB8B60E8C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sz="5400" b="1" dirty="0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Common first-run fixes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F841-683F-4CCF-BE8C-A02427B373D9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 these checks before changing project files.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205627-E12A-4BE5-A1C9-FCD4F8F024AD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85725" cy="85725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DA49-BF88-4143-B7E3-B4EBD46C173E}"/>
              </a:ext>
            </a:extLst>
          </p:cNvPr>
          <p:cNvSpPr>
            <a:spLocks noGrp="1"/>
          </p:cNvSpPr>
          <p:nvPr/>
        </p:nvSpPr>
        <p:spPr>
          <a:xfrm>
            <a:off x="1095375" y="234315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Scene is blank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2D564A-7479-4AEA-83A3-61E4E7593455}"/>
              </a:ext>
            </a:extLst>
          </p:cNvPr>
          <p:cNvSpPr>
            <a:spLocks noGrp="1"/>
          </p:cNvSpPr>
          <p:nvPr/>
        </p:nvSpPr>
        <p:spPr>
          <a:xfrm>
            <a:off x="1095375" y="260032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Open Assets &gt; Scenes &gt; PrimitiveShowcase.unity manually, then press Play again.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F2C8CF-4104-4C4A-904C-4A673121C0D0}"/>
              </a:ext>
            </a:extLst>
          </p:cNvPr>
          <p:cNvSpPr>
            <a:spLocks noGrp="1"/>
          </p:cNvSpPr>
          <p:nvPr/>
        </p:nvSpPr>
        <p:spPr>
          <a:xfrm>
            <a:off x="857250" y="3048000"/>
            <a:ext cx="85725" cy="85725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46D573-1CA9-43E7-816B-E0890D7568DD}"/>
              </a:ext>
            </a:extLst>
          </p:cNvPr>
          <p:cNvSpPr>
            <a:spLocks noGrp="1"/>
          </p:cNvSpPr>
          <p:nvPr/>
        </p:nvSpPr>
        <p:spPr>
          <a:xfrm>
            <a:off x="1095375" y="297180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No movement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2FD420-CD0B-4E73-A43B-D770835F0F98}"/>
              </a:ext>
            </a:extLst>
          </p:cNvPr>
          <p:cNvSpPr>
            <a:spLocks noGrp="1"/>
          </p:cNvSpPr>
          <p:nvPr/>
        </p:nvSpPr>
        <p:spPr>
          <a:xfrm>
            <a:off x="1095375" y="322897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Click inside the Game view first, then use WASD or arrow keys.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C8AFD2-88F6-4661-BDA3-327A6FBDD2C0}"/>
              </a:ext>
            </a:extLst>
          </p:cNvPr>
          <p:cNvSpPr>
            <a:spLocks noGrp="1"/>
          </p:cNvSpPr>
          <p:nvPr/>
        </p:nvSpPr>
        <p:spPr>
          <a:xfrm>
            <a:off x="857250" y="3676650"/>
            <a:ext cx="85725" cy="85725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2946E1-372C-4F01-9ABE-C215A3F25212}"/>
              </a:ext>
            </a:extLst>
          </p:cNvPr>
          <p:cNvSpPr>
            <a:spLocks noGrp="1"/>
          </p:cNvSpPr>
          <p:nvPr/>
        </p:nvSpPr>
        <p:spPr>
          <a:xfrm>
            <a:off x="1095375" y="360045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Jump does not work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0DBC84-E2C6-4D00-8957-EA3636F7A6E7}"/>
              </a:ext>
            </a:extLst>
          </p:cNvPr>
          <p:cNvSpPr>
            <a:spLocks noGrp="1"/>
          </p:cNvSpPr>
          <p:nvPr/>
        </p:nvSpPr>
        <p:spPr>
          <a:xfrm>
            <a:off x="1095375" y="385762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The sphere must be touching the floor or ramp before Space applies jump force.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31245-0BD7-4107-965C-4FB5D28040F8}"/>
              </a:ext>
            </a:extLst>
          </p:cNvPr>
          <p:cNvSpPr>
            <a:spLocks noGrp="1"/>
          </p:cNvSpPr>
          <p:nvPr/>
        </p:nvSpPr>
        <p:spPr>
          <a:xfrm>
            <a:off x="857250" y="4305300"/>
            <a:ext cx="85725" cy="85725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C90882-3D66-4F7E-90B6-15CDE482D047}"/>
              </a:ext>
            </a:extLst>
          </p:cNvPr>
          <p:cNvSpPr>
            <a:spLocks noGrp="1"/>
          </p:cNvSpPr>
          <p:nvPr/>
        </p:nvSpPr>
        <p:spPr>
          <a:xfrm>
            <a:off x="1095375" y="422910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202B"/>
                </a:solidFill>
                <a:latin typeface="Aptos"/>
                <a:ea typeface="Aptos"/>
                <a:cs typeface="Aptos"/>
              </a:rPr>
              <a:t>Wrong Unity version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307CE-5CA0-41E0-805D-EDB04CCAC706}"/>
              </a:ext>
            </a:extLst>
          </p:cNvPr>
          <p:cNvSpPr>
            <a:spLocks noGrp="1"/>
          </p:cNvSpPr>
          <p:nvPr/>
        </p:nvSpPr>
        <p:spPr>
          <a:xfrm>
            <a:off x="1095375" y="448627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98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Use Unity 6000.3.9f1 where possible to match the project metadata.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395608-0A5C-4434-96A8-89AF858D856A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40AC94-D03F-4265-B732-D760BE05916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025C36-4EEF-4A71-ADD5-146CA369DB09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9</a:t>
            </a:r>
            <a:endParaRPr sz="900" b="1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34621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CB6C-B44D-7A60-9002-F19A3EC9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C2B87C0-3485-CEC7-8137-0728D21E18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B10761-E363-B1FD-A7D8-A83ED9A9550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7429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F7D56"/>
                </a:solidFill>
                <a:latin typeface="Aptos"/>
                <a:ea typeface="Aptos"/>
                <a:cs typeface="Aptos"/>
              </a:defRPr>
            </a:pPr>
            <a:r>
              <a:rPr lang="en-ZA" sz="825" b="1" dirty="0">
                <a:solidFill>
                  <a:srgbClr val="2F7D56"/>
                </a:solidFill>
                <a:latin typeface="Aptos"/>
                <a:ea typeface="Aptos"/>
                <a:cs typeface="Aptos"/>
              </a:rPr>
              <a:t>The Future</a:t>
            </a:r>
            <a:endParaRPr sz="825" b="1" dirty="0">
              <a:solidFill>
                <a:srgbClr val="2F7D5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3D25BA-ADC5-E6C5-3533-F93B5BFD5C84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85725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3202B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ZA" sz="5400" b="1" dirty="0">
                <a:solidFill>
                  <a:srgbClr val="13202B"/>
                </a:solidFill>
                <a:latin typeface="Aptos Display"/>
                <a:ea typeface="Aptos Display"/>
                <a:cs typeface="Aptos Display"/>
              </a:rPr>
              <a:t>What did we not cover?</a:t>
            </a:r>
            <a:endParaRPr sz="5400" b="1" dirty="0">
              <a:solidFill>
                <a:srgbClr val="13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B00E96-9055-96E2-2BFD-143198C93739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7429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1275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What is next?</a:t>
            </a:r>
            <a:endParaRPr sz="1275" b="0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BB03F-3502-93E3-BA77-247E93EDB764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85725" cy="85725"/>
          </a:xfrm>
          <a:prstGeom prst="rect">
            <a:avLst/>
          </a:prstGeom>
          <a:solidFill>
            <a:srgbClr val="2F7D5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A6479F-BBC4-535A-EB61-38B2A6914883}"/>
              </a:ext>
            </a:extLst>
          </p:cNvPr>
          <p:cNvSpPr>
            <a:spLocks noGrp="1"/>
          </p:cNvSpPr>
          <p:nvPr/>
        </p:nvSpPr>
        <p:spPr>
          <a:xfrm>
            <a:off x="1095375" y="234315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lang="en-ZA" sz="1275" b="1" dirty="0">
                <a:solidFill>
                  <a:srgbClr val="13202B"/>
                </a:solidFill>
                <a:latin typeface="Aptos"/>
                <a:ea typeface="Aptos"/>
                <a:cs typeface="Aptos"/>
              </a:rPr>
              <a:t>Visual Studio Setup with Unity to edit C#</a:t>
            </a:r>
            <a:endParaRPr sz="1275" b="1" dirty="0">
              <a:solidFill>
                <a:srgbClr val="13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06D2B6-1BA4-7FE7-4300-4258752DCD2B}"/>
              </a:ext>
            </a:extLst>
          </p:cNvPr>
          <p:cNvSpPr>
            <a:spLocks noGrp="1"/>
          </p:cNvSpPr>
          <p:nvPr/>
        </p:nvSpPr>
        <p:spPr>
          <a:xfrm>
            <a:off x="1095375" y="260032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998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You will need to modify your instillation of Visual Studio 2026 to include the Unity Game Package, this will be covered next year. But please feel free to explore!</a:t>
            </a:r>
            <a:endParaRPr sz="998" b="0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448703-F327-2511-6439-DC31981A73AD}"/>
              </a:ext>
            </a:extLst>
          </p:cNvPr>
          <p:cNvSpPr>
            <a:spLocks noGrp="1"/>
          </p:cNvSpPr>
          <p:nvPr/>
        </p:nvSpPr>
        <p:spPr>
          <a:xfrm>
            <a:off x="857250" y="3048000"/>
            <a:ext cx="85725" cy="85725"/>
          </a:xfrm>
          <a:prstGeom prst="rect">
            <a:avLst/>
          </a:prstGeom>
          <a:solidFill>
            <a:srgbClr val="2F6F9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866583-66DB-FD97-5DB0-B452C819F3E1}"/>
              </a:ext>
            </a:extLst>
          </p:cNvPr>
          <p:cNvSpPr>
            <a:spLocks noGrp="1"/>
          </p:cNvSpPr>
          <p:nvPr/>
        </p:nvSpPr>
        <p:spPr>
          <a:xfrm>
            <a:off x="1095375" y="297180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lang="en-ZA" sz="1275" b="1" dirty="0">
                <a:solidFill>
                  <a:srgbClr val="13202B"/>
                </a:solidFill>
                <a:latin typeface="Aptos"/>
                <a:ea typeface="Aptos"/>
                <a:cs typeface="Aptos"/>
              </a:rPr>
              <a:t>The Camera is static</a:t>
            </a:r>
            <a:endParaRPr sz="1275" b="1" dirty="0">
              <a:solidFill>
                <a:srgbClr val="13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337169-E3CB-FA3A-8F57-87210E7CDB4B}"/>
              </a:ext>
            </a:extLst>
          </p:cNvPr>
          <p:cNvSpPr>
            <a:spLocks noGrp="1"/>
          </p:cNvSpPr>
          <p:nvPr/>
        </p:nvSpPr>
        <p:spPr>
          <a:xfrm>
            <a:off x="1095375" y="322897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998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Would we be able to make it attached to the player? Try it!</a:t>
            </a:r>
            <a:endParaRPr sz="998" b="0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D4FC37-ADD1-C836-5ED7-A31B23845FB8}"/>
              </a:ext>
            </a:extLst>
          </p:cNvPr>
          <p:cNvSpPr>
            <a:spLocks noGrp="1"/>
          </p:cNvSpPr>
          <p:nvPr/>
        </p:nvSpPr>
        <p:spPr>
          <a:xfrm>
            <a:off x="857250" y="3676650"/>
            <a:ext cx="85725" cy="85725"/>
          </a:xfrm>
          <a:prstGeom prst="rect">
            <a:avLst/>
          </a:prstGeom>
          <a:solidFill>
            <a:srgbClr val="C98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DF239-B47A-651C-4A56-FDC00C881EA5}"/>
              </a:ext>
            </a:extLst>
          </p:cNvPr>
          <p:cNvSpPr>
            <a:spLocks noGrp="1"/>
          </p:cNvSpPr>
          <p:nvPr/>
        </p:nvSpPr>
        <p:spPr>
          <a:xfrm>
            <a:off x="1095375" y="360045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lang="en-ZA" sz="1275" b="1" dirty="0">
                <a:solidFill>
                  <a:srgbClr val="13202B"/>
                </a:solidFill>
                <a:latin typeface="Aptos"/>
                <a:ea typeface="Aptos"/>
                <a:cs typeface="Aptos"/>
              </a:rPr>
              <a:t>No Fancy Gameplay elements</a:t>
            </a:r>
            <a:endParaRPr sz="1275" b="1" dirty="0">
              <a:solidFill>
                <a:srgbClr val="13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CA36F5-4C6B-9E3A-D14B-E92AE878968B}"/>
              </a:ext>
            </a:extLst>
          </p:cNvPr>
          <p:cNvSpPr>
            <a:spLocks noGrp="1"/>
          </p:cNvSpPr>
          <p:nvPr/>
        </p:nvSpPr>
        <p:spPr>
          <a:xfrm>
            <a:off x="1095375" y="385762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998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Can we add a more complex obstacles or change some colours of objects?</a:t>
            </a:r>
            <a:endParaRPr sz="998" b="0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134457-9C3B-FC9B-B6B4-3E1B43AA7BFD}"/>
              </a:ext>
            </a:extLst>
          </p:cNvPr>
          <p:cNvSpPr>
            <a:spLocks noGrp="1"/>
          </p:cNvSpPr>
          <p:nvPr/>
        </p:nvSpPr>
        <p:spPr>
          <a:xfrm>
            <a:off x="857250" y="4305300"/>
            <a:ext cx="85725" cy="85725"/>
          </a:xfrm>
          <a:prstGeom prst="rect">
            <a:avLst/>
          </a:prstGeom>
          <a:solidFill>
            <a:srgbClr val="B14D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278F1-708E-777C-616C-745BE800D621}"/>
              </a:ext>
            </a:extLst>
          </p:cNvPr>
          <p:cNvSpPr>
            <a:spLocks noGrp="1"/>
          </p:cNvSpPr>
          <p:nvPr/>
        </p:nvSpPr>
        <p:spPr>
          <a:xfrm>
            <a:off x="1095375" y="4229100"/>
            <a:ext cx="91916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3202B"/>
                </a:solidFill>
                <a:latin typeface="Aptos"/>
                <a:ea typeface="Aptos"/>
                <a:cs typeface="Aptos"/>
              </a:defRPr>
            </a:pPr>
            <a:r>
              <a:rPr lang="en-ZA" sz="1275" b="1" dirty="0">
                <a:solidFill>
                  <a:srgbClr val="13202B"/>
                </a:solidFill>
                <a:latin typeface="Aptos"/>
                <a:ea typeface="Aptos"/>
                <a:cs typeface="Aptos"/>
              </a:rPr>
              <a:t>Making it your own! </a:t>
            </a:r>
            <a:endParaRPr sz="1275" b="1" dirty="0">
              <a:solidFill>
                <a:srgbClr val="13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A2EA45-FF74-A69A-BFAD-BF48F0827EE6}"/>
              </a:ext>
            </a:extLst>
          </p:cNvPr>
          <p:cNvSpPr>
            <a:spLocks noGrp="1"/>
          </p:cNvSpPr>
          <p:nvPr/>
        </p:nvSpPr>
        <p:spPr>
          <a:xfrm>
            <a:off x="1095375" y="4486275"/>
            <a:ext cx="9191625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98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lang="en-ZA" sz="998" b="0" dirty="0">
                <a:solidFill>
                  <a:srgbClr val="687386"/>
                </a:solidFill>
                <a:latin typeface="Aptos"/>
                <a:ea typeface="Aptos"/>
                <a:cs typeface="Aptos"/>
              </a:rPr>
              <a:t>Go wild, this is not an formal project, use it as your playground and test things. Also have a look at the awesome (Official) Unity tutorials. </a:t>
            </a:r>
            <a:endParaRPr sz="998" b="0" dirty="0">
              <a:solidFill>
                <a:srgbClr val="68738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69571E-8D8C-F826-1B4D-18C3A58770B6}"/>
              </a:ext>
            </a:extLst>
          </p:cNvPr>
          <p:cNvSpPr>
            <a:spLocks noGrp="1"/>
          </p:cNvSpPr>
          <p:nvPr/>
        </p:nvSpPr>
        <p:spPr>
          <a:xfrm>
            <a:off x="609600" y="6343650"/>
            <a:ext cx="10572750" cy="13335"/>
          </a:xfrm>
          <a:prstGeom prst="rect">
            <a:avLst/>
          </a:prstGeom>
          <a:solidFill>
            <a:srgbClr val="DED6C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D84CCF-F75B-9961-5E0C-74989C277B0B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87386"/>
                </a:solidFill>
                <a:latin typeface="Aptos"/>
                <a:ea typeface="Aptos"/>
                <a:cs typeface="Aptos"/>
              </a:rPr>
              <a:t>Unity Showcase project - Tutoring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9A4BD1-7466-519A-CE57-7CA6FFED57C2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381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68738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8738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527042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800</Words>
  <Application>Microsoft Office PowerPoint</Application>
  <DocSecurity>0</DocSecurity>
  <PresentationFormat>Widescreen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Xander Jacobs</cp:lastModifiedBy>
  <cp:revision>4</cp:revision>
  <dcterms:created xsi:type="dcterms:W3CDTF">2026-05-20T11:24:25Z</dcterms:created>
  <dcterms:modified xsi:type="dcterms:W3CDTF">2026-05-20T11:39:17Z</dcterms:modified>
</cp:coreProperties>
</file>